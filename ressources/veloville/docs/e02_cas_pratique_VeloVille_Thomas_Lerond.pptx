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16"/>
  </p:notesMasterIdLst>
  <p:sldIdLst>
    <p:sldId id="256" r:id="rId2"/>
    <p:sldId id="258" r:id="rId3"/>
    <p:sldId id="259" r:id="rId4"/>
    <p:sldId id="263" r:id="rId5"/>
    <p:sldId id="264" r:id="rId6"/>
    <p:sldId id="265" r:id="rId7"/>
    <p:sldId id="260" r:id="rId8"/>
    <p:sldId id="266" r:id="rId9"/>
    <p:sldId id="267" r:id="rId10"/>
    <p:sldId id="268" r:id="rId11"/>
    <p:sldId id="269" r:id="rId12"/>
    <p:sldId id="270" r:id="rId13"/>
    <p:sldId id="261" r:id="rId14"/>
    <p:sldId id="262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9D2903-84BE-4582-B4D1-5151866353AC}" type="datetimeFigureOut">
              <a:rPr lang="fr-FR" smtClean="0"/>
              <a:t>15/10/2026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C71FF0-3D2A-4BCD-8C76-FB0E385D57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294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 cap="none" baseline="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 cap="none" baseline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dirty="0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cap="none" baseline="0"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>
            <a:lvl1pPr>
              <a:defRPr cap="none" baseline="0"/>
            </a:lvl1pPr>
            <a:lvl2pPr>
              <a:defRPr cap="none" baseline="0"/>
            </a:lvl2pPr>
            <a:lvl3pPr>
              <a:defRPr cap="none" baseline="0"/>
            </a:lvl3pPr>
            <a:lvl4pPr>
              <a:defRPr cap="none" baseline="0"/>
            </a:lvl4pPr>
            <a:lvl5pPr>
              <a:defRPr cap="none" baseline="0"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none" baseline="0"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 cap="none" baseline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cap="none" baseline="0"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 cap="none" baseline="0"/>
            </a:lvl1pPr>
            <a:lvl2pPr>
              <a:defRPr sz="1600" cap="none" baseline="0"/>
            </a:lvl2pPr>
            <a:lvl3pPr>
              <a:defRPr sz="1400" cap="none" baseline="0"/>
            </a:lvl3pPr>
            <a:lvl4pPr>
              <a:defRPr sz="1200" cap="none" baseline="0"/>
            </a:lvl4pPr>
            <a:lvl5pPr>
              <a:defRPr sz="1200" cap="none" baseline="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 cap="none" baseline="0"/>
            </a:lvl1pPr>
            <a:lvl2pPr>
              <a:defRPr sz="1600" cap="none" baseline="0"/>
            </a:lvl2pPr>
            <a:lvl3pPr>
              <a:defRPr sz="1400" cap="none" baseline="0"/>
            </a:lvl3pPr>
            <a:lvl4pPr>
              <a:defRPr sz="1200" cap="none" baseline="0"/>
            </a:lvl4pPr>
            <a:lvl5pPr>
              <a:defRPr sz="1200" cap="none" baseline="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1" r:id="rId9"/>
    <p:sldLayoutId id="2147483657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C46F76-4E12-D4DB-930D-332CD12FB1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fr-FR" sz="2200" dirty="0"/>
              <a:t>Cas pratique : développement et suivi du cycle de vie d'une application</a:t>
            </a:r>
            <a:br>
              <a:rPr lang="fr-FR" b="1" i="0" dirty="0">
                <a:solidFill>
                  <a:srgbClr val="BBBEBF"/>
                </a:solidFill>
                <a:effectLst/>
                <a:latin typeface="-apple-system"/>
              </a:rPr>
            </a:br>
            <a:r>
              <a:rPr lang="fr-FR" b="1" i="0" dirty="0">
                <a:solidFill>
                  <a:srgbClr val="BBBEBF"/>
                </a:solidFill>
                <a:effectLst/>
                <a:latin typeface="-apple-system"/>
              </a:rPr>
              <a:t>- </a:t>
            </a:r>
            <a:r>
              <a:rPr lang="fr-FR" dirty="0" err="1"/>
              <a:t>VéloVille</a:t>
            </a:r>
            <a:r>
              <a:rPr lang="fr-FR" dirty="0"/>
              <a:t> -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D6B7295-2FA7-CE56-B486-C73264BBE05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dirty="0"/>
              <a:t>M2I</a:t>
            </a:r>
          </a:p>
          <a:p>
            <a:r>
              <a:rPr lang="fr-FR" dirty="0"/>
              <a:t>- RNCP 39103 – </a:t>
            </a:r>
          </a:p>
          <a:p>
            <a:r>
              <a:rPr lang="fr-FR" dirty="0"/>
              <a:t>Épreuve 02</a:t>
            </a:r>
          </a:p>
          <a:p>
            <a:endParaRPr lang="fr-FR" dirty="0"/>
          </a:p>
          <a:p>
            <a:r>
              <a:rPr lang="fr-FR" dirty="0"/>
              <a:t>Thomas </a:t>
            </a:r>
            <a:r>
              <a:rPr lang="fr-FR" dirty="0" err="1"/>
              <a:t>Lerond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01023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3AE973-CB07-A38B-1366-BC21FB6A1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F41FAC4-A1AB-BF6D-25FA-E804C91938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>
              <a:buFont typeface="+mj-lt"/>
              <a:buAutoNum type="arabicPeriod"/>
            </a:pPr>
            <a:r>
              <a:rPr lang="fr-FR" i="0" dirty="0">
                <a:solidFill>
                  <a:srgbClr val="BBBEBF"/>
                </a:solidFill>
                <a:effectLst/>
                <a:latin typeface="-apple-system"/>
              </a:rPr>
              <a:t>Contexte et périmètre</a:t>
            </a:r>
          </a:p>
          <a:p>
            <a:pPr algn="l">
              <a:buFont typeface="+mj-lt"/>
              <a:buAutoNum type="arabicPeriod"/>
            </a:pPr>
            <a:r>
              <a:rPr lang="fr-FR" i="0" dirty="0">
                <a:solidFill>
                  <a:srgbClr val="BBBEBF"/>
                </a:solidFill>
                <a:effectLst/>
                <a:latin typeface="-apple-system"/>
              </a:rPr>
              <a:t>Démonstration</a:t>
            </a:r>
          </a:p>
          <a:p>
            <a:pPr algn="l">
              <a:buFont typeface="+mj-lt"/>
              <a:buAutoNum type="arabicPeriod"/>
            </a:pPr>
            <a:r>
              <a:rPr lang="fr-FR" i="0" dirty="0">
                <a:solidFill>
                  <a:srgbClr val="BBBEBF"/>
                </a:solidFill>
                <a:effectLst/>
                <a:latin typeface="-apple-system"/>
              </a:rPr>
              <a:t>Choix techniques et qualité</a:t>
            </a:r>
          </a:p>
          <a:p>
            <a:pPr algn="l">
              <a:buFont typeface="+mj-lt"/>
              <a:buAutoNum type="arabicPeriod"/>
            </a:pPr>
            <a:r>
              <a:rPr lang="fr-FR" i="0" dirty="0">
                <a:solidFill>
                  <a:srgbClr val="BBBEBF"/>
                </a:solidFill>
                <a:effectLst/>
                <a:latin typeface="-apple-system"/>
              </a:rPr>
              <a:t>Limites et axes d'amélioration</a:t>
            </a:r>
          </a:p>
          <a:p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EFD8973-B0A3-E9AE-FD28-004C73507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B10DFA7-62B5-E3BB-31D3-A0294EE3C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7804C17-76BB-DC3F-5E37-385FEABB6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9302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E1836F-5544-D68B-84C0-8E315471D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1. Contexte et périmètre</a:t>
            </a:r>
            <a:br>
              <a:rPr lang="fr-FR" b="0" i="0" dirty="0">
                <a:solidFill>
                  <a:srgbClr val="BBBEBF"/>
                </a:solidFill>
                <a:effectLst/>
                <a:latin typeface="-apple-system"/>
              </a:rPr>
            </a:b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AC60A9D-57F8-0920-138E-77D5D5A389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b="0" i="0" dirty="0">
                <a:solidFill>
                  <a:srgbClr val="BBBEBF"/>
                </a:solidFill>
                <a:effectLst/>
                <a:latin typeface="-apple-system"/>
              </a:rPr>
              <a:t>Besoins</a:t>
            </a:r>
          </a:p>
          <a:p>
            <a:r>
              <a:rPr lang="fr-FR" b="0" i="0" dirty="0">
                <a:solidFill>
                  <a:srgbClr val="BBBEBF"/>
                </a:solidFill>
                <a:effectLst/>
                <a:latin typeface="-apple-system"/>
              </a:rPr>
              <a:t>Architecture retenue</a:t>
            </a:r>
          </a:p>
          <a:p>
            <a:r>
              <a:rPr lang="fr-FR" b="0" i="0" dirty="0">
                <a:solidFill>
                  <a:srgbClr val="BBBEBF"/>
                </a:solidFill>
                <a:effectLst/>
                <a:latin typeface="-apple-system"/>
              </a:rPr>
              <a:t>Ce qui est livré et ce qui ne l'est pas.</a:t>
            </a: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65B5350-D9CF-2D47-85D8-5E0C466DF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2D25F29-0F72-BB9B-7EEB-63C5558EC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44C9B2F-970A-B5A1-AFC4-722E5375A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7318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64CF62-2537-67C8-3F79-203CC7C9C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Besoins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EDEF0BD-3B1F-048D-EFCD-1EE574A593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5173123" cy="3124201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fr-FR" dirty="0"/>
              <a:t>Existant 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b="0" i="0" dirty="0">
                <a:solidFill>
                  <a:srgbClr val="BBBEBF"/>
                </a:solidFill>
                <a:effectLst/>
                <a:latin typeface="-apple-system"/>
              </a:rPr>
              <a:t>Les exports ne sont pas fiabilisés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b="0" i="0" dirty="0">
                <a:solidFill>
                  <a:srgbClr val="BBBEBF"/>
                </a:solidFill>
                <a:effectLst/>
                <a:latin typeface="-apple-system"/>
              </a:rPr>
              <a:t>Aucun référentiel commun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b="0" i="0" dirty="0">
                <a:solidFill>
                  <a:srgbClr val="BBBEBF"/>
                </a:solidFill>
                <a:effectLst/>
                <a:latin typeface="-apple-system"/>
              </a:rPr>
              <a:t>Les indicateurs mensuels sont produits à la main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b="0" i="0" dirty="0">
                <a:solidFill>
                  <a:srgbClr val="BBBEBF"/>
                </a:solidFill>
                <a:effectLst/>
                <a:latin typeface="-apple-system"/>
              </a:rPr>
              <a:t>Les fichiers circulent par courriel, sans contrôle d'accès ni traçabilité.</a:t>
            </a:r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u contenu 2">
            <a:extLst>
              <a:ext uri="{FF2B5EF4-FFF2-40B4-BE49-F238E27FC236}">
                <a16:creationId xmlns:a16="http://schemas.microsoft.com/office/drawing/2014/main" id="{0E2A9F6C-7869-273C-0DE4-4612F79F0F11}"/>
              </a:ext>
            </a:extLst>
          </p:cNvPr>
          <p:cNvSpPr>
            <a:spLocks noGrp="1"/>
          </p:cNvSpPr>
          <p:nvPr/>
        </p:nvSpPr>
        <p:spPr>
          <a:xfrm>
            <a:off x="4812253" y="609600"/>
            <a:ext cx="3220453" cy="20565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i="1" dirty="0" err="1"/>
              <a:t>VéloVille</a:t>
            </a:r>
            <a:r>
              <a:rPr lang="fr-FR" i="1" dirty="0"/>
              <a:t> </a:t>
            </a:r>
            <a:r>
              <a:rPr lang="fr-FR" i="1" dirty="0" err="1"/>
              <a:t>HdF</a:t>
            </a:r>
            <a:endParaRPr lang="fr-FR" i="1" dirty="0"/>
          </a:p>
          <a:p>
            <a:pPr lvl="1"/>
            <a:r>
              <a:rPr lang="fr-FR" i="1" dirty="0"/>
              <a:t>120 stations</a:t>
            </a:r>
          </a:p>
          <a:p>
            <a:pPr lvl="1"/>
            <a:r>
              <a:rPr lang="fr-FR" i="1" dirty="0"/>
              <a:t>1800 vélos</a:t>
            </a:r>
          </a:p>
          <a:p>
            <a:pPr lvl="1"/>
            <a:r>
              <a:rPr lang="fr-FR" i="1" dirty="0"/>
              <a:t>9000 trajets/jour</a:t>
            </a:r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C1DCE5AE-DF55-0485-B819-FAA80710A77A}"/>
              </a:ext>
            </a:extLst>
          </p:cNvPr>
          <p:cNvSpPr txBox="1">
            <a:spLocks/>
          </p:cNvSpPr>
          <p:nvPr/>
        </p:nvSpPr>
        <p:spPr>
          <a:xfrm>
            <a:off x="7213046" y="998724"/>
            <a:ext cx="3220453" cy="20565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defTabSz="457200"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fr-FR" sz="16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6 Agents de rééquilibrage</a:t>
            </a:r>
          </a:p>
          <a:p>
            <a:pPr marL="742950" lvl="1" indent="-285750" defTabSz="457200"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fr-FR" sz="16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4 Techniciens de maintenance</a:t>
            </a:r>
          </a:p>
          <a:p>
            <a:pPr marL="742950" lvl="1" indent="-285750" defTabSz="457200"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fr-FR" sz="16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 Coordinatrice</a:t>
            </a:r>
          </a:p>
          <a:p>
            <a:pPr marL="742950" lvl="1" indent="-285750" defTabSz="457200"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fr-FR" sz="16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 développeurs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829F78ED-0B60-C89C-DAF7-CE7E0C6258DD}"/>
              </a:ext>
            </a:extLst>
          </p:cNvPr>
          <p:cNvSpPr txBox="1">
            <a:spLocks/>
          </p:cNvSpPr>
          <p:nvPr/>
        </p:nvSpPr>
        <p:spPr>
          <a:xfrm>
            <a:off x="7134045" y="3055288"/>
            <a:ext cx="4861704" cy="35133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none" baseline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none" baseline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none" baseline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none" baseline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none" baseline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fr-FR" b="1" dirty="0"/>
              <a:t>Solution 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rgbClr val="BBBEBF"/>
                </a:solidFill>
                <a:effectLst/>
                <a:latin typeface="-apple-system"/>
              </a:rPr>
              <a:t>Exports fiabilisés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rgbClr val="BBBEBF"/>
                </a:solidFill>
                <a:effectLst/>
                <a:latin typeface="-apple-system"/>
              </a:rPr>
              <a:t>Référentiel commun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rgbClr val="BBBEBF"/>
                </a:solidFill>
                <a:effectLst/>
                <a:latin typeface="-apple-system"/>
              </a:rPr>
              <a:t>Indicateurs automatisés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rgbClr val="BBBEBF"/>
                </a:solidFill>
                <a:effectLst/>
                <a:latin typeface="-apple-system"/>
              </a:rPr>
              <a:t>Fichiers sécurisés</a:t>
            </a:r>
          </a:p>
          <a:p>
            <a:pPr marL="0" indent="0">
              <a:buFont typeface="Arial"/>
              <a:buNone/>
            </a:pPr>
            <a:endParaRPr lang="fr-FR" dirty="0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88EDAB7-5847-9305-A4BE-003FB3B81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447C1E6-DBD3-28F6-1A6D-4ACE8B70F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C590B35-9180-66A9-515E-8D8D67CEE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3778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ACC6D5-4231-A48F-7387-088F3F3FA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Architecture retenue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4E143A7-061C-F07D-BC18-91CBA9B998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000" b="1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Monolithe modulaire </a:t>
            </a:r>
          </a:p>
          <a:p>
            <a:pPr marL="457200" lvl="1" indent="0">
              <a:buNone/>
            </a:pPr>
            <a:r>
              <a:rPr lang="fr-FR" dirty="0">
                <a:effectLst/>
                <a:cs typeface="Times New Roman" panose="02020603050405020304" pitchFamily="18" charset="0"/>
              </a:rPr>
              <a:t>Pourquoi ?</a:t>
            </a:r>
          </a:p>
          <a:p>
            <a:pPr marL="457200" lvl="1" indent="0">
              <a:buNone/>
            </a:pPr>
            <a:r>
              <a:rPr lang="fr-FR" dirty="0">
                <a:effectLst/>
                <a:cs typeface="Times New Roman" panose="02020603050405020304" pitchFamily="18" charset="0"/>
                <a:sym typeface="Wingdings" panose="05000000000000000000" pitchFamily="2" charset="2"/>
              </a:rPr>
              <a:t> Petite équipe, projet court terme</a:t>
            </a:r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F4CE11A-A04C-8A16-936D-5F614359B9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2408" y="1226387"/>
            <a:ext cx="4578010" cy="384401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76A5CF45-E2D4-E230-CABE-2082762AE2CE}"/>
              </a:ext>
            </a:extLst>
          </p:cNvPr>
          <p:cNvSpPr txBox="1"/>
          <p:nvPr/>
        </p:nvSpPr>
        <p:spPr>
          <a:xfrm>
            <a:off x="6922408" y="5070402"/>
            <a:ext cx="457801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i="1" dirty="0"/>
              <a:t>Schéma applicatif issu de ma proposition de </a:t>
            </a:r>
            <a:r>
              <a:rPr lang="fr-FR" sz="1100" i="1" dirty="0" err="1"/>
              <a:t>CdC</a:t>
            </a:r>
            <a:endParaRPr lang="fr-FR" sz="1100" i="1" dirty="0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83DE3A52-8C9A-D699-B530-1590620C1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810B6886-7937-8F44-4157-A050B30B2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7FD701EA-3477-056B-E78A-9FFD3AA75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99226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06BDCF-A647-98B0-5BF7-FFD87D231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Ce qui est livré / Ce qui ne l’est pas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4092E57-C839-6CCE-309C-DD6E837AEC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1412" y="1949571"/>
            <a:ext cx="4876800" cy="3841630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fr-FR" b="1" dirty="0"/>
              <a:t>Solution contenant </a:t>
            </a:r>
            <a:r>
              <a:rPr lang="fr-FR" dirty="0"/>
              <a:t>:</a:t>
            </a:r>
          </a:p>
          <a:p>
            <a:r>
              <a:rPr lang="fr-FR" dirty="0"/>
              <a:t>Script de fiabilisation et d’importation des données</a:t>
            </a:r>
          </a:p>
          <a:p>
            <a:r>
              <a:rPr lang="fr-FR" dirty="0"/>
              <a:t>Gestion de BDD par </a:t>
            </a:r>
            <a:r>
              <a:rPr lang="fr-FR" dirty="0" err="1"/>
              <a:t>Postgre</a:t>
            </a:r>
            <a:r>
              <a:rPr lang="fr-FR" dirty="0"/>
              <a:t> SQL</a:t>
            </a:r>
          </a:p>
          <a:p>
            <a:r>
              <a:rPr lang="fr-FR" dirty="0"/>
              <a:t>API backend contenant les fonctionnalités suivantes :</a:t>
            </a:r>
          </a:p>
          <a:p>
            <a:pPr lvl="1"/>
            <a:r>
              <a:rPr lang="fr-FR" dirty="0"/>
              <a:t>Authentification</a:t>
            </a:r>
          </a:p>
          <a:p>
            <a:pPr lvl="1"/>
            <a:r>
              <a:rPr lang="fr-FR" dirty="0"/>
              <a:t>Visualisation de la liste des stations</a:t>
            </a:r>
          </a:p>
          <a:p>
            <a:pPr lvl="1"/>
            <a:r>
              <a:rPr lang="fr-FR" dirty="0"/>
              <a:t>Recherche d’une station particulière</a:t>
            </a:r>
          </a:p>
          <a:p>
            <a:pPr lvl="1"/>
            <a:r>
              <a:rPr lang="fr-FR" dirty="0"/>
              <a:t>Visualisation des trajets</a:t>
            </a:r>
          </a:p>
          <a:p>
            <a:pPr lvl="1"/>
            <a:r>
              <a:rPr lang="fr-FR" dirty="0"/>
              <a:t>Visualisation des différents incidents</a:t>
            </a:r>
          </a:p>
          <a:p>
            <a:pPr lvl="1"/>
            <a:r>
              <a:rPr lang="fr-FR" dirty="0"/>
              <a:t>Mise à jour du statut d’un incident</a:t>
            </a:r>
          </a:p>
          <a:p>
            <a:pPr lvl="1"/>
            <a:r>
              <a:rPr lang="fr-FR" dirty="0"/>
              <a:t>Visualisation des indicateurs :</a:t>
            </a:r>
          </a:p>
          <a:p>
            <a:pPr lvl="2"/>
            <a:r>
              <a:rPr lang="fr-FR" dirty="0"/>
              <a:t>Activité par jour</a:t>
            </a:r>
          </a:p>
          <a:p>
            <a:pPr lvl="2"/>
            <a:r>
              <a:rPr lang="fr-FR" dirty="0"/>
              <a:t>Stations actives</a:t>
            </a:r>
          </a:p>
          <a:p>
            <a:pPr lvl="2"/>
            <a:r>
              <a:rPr lang="fr-FR" dirty="0"/>
              <a:t>Nombre d’incidents par statut</a:t>
            </a:r>
          </a:p>
          <a:p>
            <a:r>
              <a:rPr lang="fr-FR" dirty="0"/>
              <a:t>Frontend </a:t>
            </a:r>
            <a:r>
              <a:rPr lang="fr-FR" dirty="0" err="1"/>
              <a:t>Streamlit</a:t>
            </a:r>
            <a:r>
              <a:rPr lang="fr-FR" dirty="0"/>
              <a:t> permettant une navigation entre les fonctionnalités de l’API avec restitution tabulaire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732FFC4-3073-2E4F-ADFF-F12C12CE7B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0612" y="1949570"/>
            <a:ext cx="4876800" cy="3841630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fr-FR" b="1" dirty="0"/>
              <a:t>Hors périmètre :</a:t>
            </a:r>
          </a:p>
          <a:p>
            <a:r>
              <a:rPr lang="fr-FR" dirty="0"/>
              <a:t>Création d’un nouveau compte</a:t>
            </a:r>
          </a:p>
          <a:p>
            <a:r>
              <a:rPr lang="fr-FR" dirty="0"/>
              <a:t>Suivi météo</a:t>
            </a:r>
          </a:p>
          <a:p>
            <a:endParaRPr lang="fr-FR" dirty="0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41C55A9-57A0-B931-5897-978A772B2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5933634-D1FE-BB4F-2FDB-5176FF49C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F7E13B2-A8F4-390F-B2A8-4FA0577CC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52902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DB9252-FA83-81EF-1ABE-B511ED3FC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2. Démonstration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034D4A4-D84A-2359-73A0-36078E3304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b="0" i="0" dirty="0">
                <a:solidFill>
                  <a:srgbClr val="BBBEBF"/>
                </a:solidFill>
                <a:effectLst/>
                <a:latin typeface="-apple-system"/>
              </a:rPr>
              <a:t>Audit et import des données (journal des rejets, idempotence)</a:t>
            </a:r>
          </a:p>
          <a:p>
            <a:r>
              <a:rPr lang="fr-FR" b="0" i="0" dirty="0">
                <a:solidFill>
                  <a:srgbClr val="BBBEBF"/>
                </a:solidFill>
                <a:effectLst/>
                <a:latin typeface="-apple-system"/>
              </a:rPr>
              <a:t>Connexion avec les deux comptes et différence de droits (un 403 montré)</a:t>
            </a:r>
          </a:p>
          <a:p>
            <a:r>
              <a:rPr lang="fr-FR" b="0" i="0" dirty="0">
                <a:solidFill>
                  <a:srgbClr val="BBBEBF"/>
                </a:solidFill>
                <a:effectLst/>
                <a:latin typeface="-apple-system"/>
              </a:rPr>
              <a:t>Les quatre écrans du front</a:t>
            </a:r>
          </a:p>
          <a:p>
            <a:r>
              <a:rPr lang="fr-FR" b="0" i="0" dirty="0">
                <a:solidFill>
                  <a:srgbClr val="BBBEBF"/>
                </a:solidFill>
                <a:effectLst/>
                <a:latin typeface="-apple-system"/>
              </a:rPr>
              <a:t>Un indicateur rapproché d'une requête SQL de contrôle</a:t>
            </a:r>
          </a:p>
          <a:p>
            <a:r>
              <a:rPr lang="fr-FR" b="0" i="0" dirty="0">
                <a:solidFill>
                  <a:srgbClr val="BBBEBF"/>
                </a:solidFill>
                <a:effectLst/>
                <a:latin typeface="-apple-system"/>
              </a:rPr>
              <a:t>Exécution des tests et affichage de la couverture</a:t>
            </a:r>
          </a:p>
          <a:p>
            <a:r>
              <a:rPr lang="fr-FR" b="0" i="0" dirty="0">
                <a:solidFill>
                  <a:srgbClr val="BBBEBF"/>
                </a:solidFill>
                <a:effectLst/>
                <a:latin typeface="-apple-system"/>
              </a:rPr>
              <a:t>Exécution de la sauvegarde</a:t>
            </a:r>
            <a:br>
              <a:rPr lang="fr-FR" b="0" i="0" dirty="0">
                <a:solidFill>
                  <a:srgbClr val="BBBEBF"/>
                </a:solidFill>
                <a:effectLst/>
                <a:latin typeface="-apple-system"/>
              </a:rPr>
            </a:b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BBEC850-D3AE-4C19-9CAA-9869A66A9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B3C532A-2B1E-DBFB-6B02-AD8CA9AC5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E62AE3C-E3DC-CA5C-4299-3ED74D1F3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54402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55D8C8-A908-1C80-3270-57A3883A9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0" i="0" dirty="0">
                <a:solidFill>
                  <a:srgbClr val="BBBEBF"/>
                </a:solidFill>
                <a:effectLst/>
                <a:latin typeface="-apple-system"/>
              </a:rPr>
              <a:t>Audit et import des données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2900D55-65C2-8166-C678-8C8150EE63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4334203" cy="3124201"/>
          </a:xfrm>
        </p:spPr>
        <p:txBody>
          <a:bodyPr>
            <a:normAutofit fontScale="85000" lnSpcReduction="10000"/>
          </a:bodyPr>
          <a:lstStyle/>
          <a:p>
            <a:r>
              <a:rPr lang="fr-FR" dirty="0"/>
              <a:t>Nettoyage des csv</a:t>
            </a:r>
          </a:p>
          <a:p>
            <a:pPr lvl="1"/>
            <a:r>
              <a:rPr lang="fr-FR" dirty="0"/>
              <a:t>Vérification des règles d’écriture des dates et heures</a:t>
            </a:r>
          </a:p>
          <a:p>
            <a:pPr lvl="1"/>
            <a:r>
              <a:rPr lang="fr-FR" dirty="0"/>
              <a:t>Normalisation des entrées écrites</a:t>
            </a:r>
          </a:p>
          <a:p>
            <a:pPr lvl="1"/>
            <a:r>
              <a:rPr lang="fr-FR" dirty="0"/>
              <a:t>Suppression des lignes physiquement impossible (restitution d’un vélo avant son emprunt)</a:t>
            </a:r>
          </a:p>
          <a:p>
            <a:r>
              <a:rPr lang="fr-FR" dirty="0"/>
              <a:t>Double sortie : csv et importation dans la BDD</a:t>
            </a:r>
          </a:p>
          <a:p>
            <a:r>
              <a:rPr lang="fr-FR" dirty="0"/>
              <a:t>Rédaction automatisée d’un journal de fiabilisation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A823D0D-151E-5E47-7D6F-147B5B2057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5616" y="1764691"/>
            <a:ext cx="6468378" cy="2305372"/>
          </a:xfrm>
          <a:prstGeom prst="rect">
            <a:avLst/>
          </a:prstGeom>
        </p:spPr>
      </p:pic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6EF9D0-BF05-3CA2-53DD-C32BF4FDD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90D46E5-07AE-03C4-080E-EA5F9FC14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90E8D7F9-E1FB-8DE1-D55C-9B995C89A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A11AEDC-020A-BD9D-40BB-752ED9BC3F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5145" y="4075721"/>
            <a:ext cx="4648849" cy="1905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7768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423B78-0FA4-81F7-C0E6-D71AEF7C6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0" i="0" dirty="0">
                <a:solidFill>
                  <a:srgbClr val="BBBEBF"/>
                </a:solidFill>
                <a:effectLst/>
                <a:latin typeface="-apple-system"/>
              </a:rPr>
              <a:t>Différence de droits</a:t>
            </a:r>
            <a:endParaRPr lang="fr-FR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FA6DD6F8-A8C6-CC10-8776-5634639EFA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85365" y="1454277"/>
            <a:ext cx="3951818" cy="4629095"/>
          </a:xfr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5210AFCC-536A-59F0-08D7-A20F85D2B6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817" y="2862071"/>
            <a:ext cx="5982535" cy="273405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490F86A5-A7B2-A5B7-3A21-DD1A1DD147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5365" y="262129"/>
            <a:ext cx="3951818" cy="1267875"/>
          </a:xfrm>
          <a:prstGeom prst="rect">
            <a:avLst/>
          </a:prstGeom>
        </p:spPr>
      </p:pic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1596C10-50E8-044A-7681-2D83FE0E4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8D3FE3D-FC00-6C6A-1ABA-18B6976F3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8EAF211-3667-183F-62D9-83A4D936F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6444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54818B-2E86-8288-E238-389FE5B66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 Frontend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8BA3AC3-16DC-9FFC-8730-4FA84EDC70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8778" y="609600"/>
            <a:ext cx="3723091" cy="1184386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4A6DF51A-FCF4-B0E1-40A1-B6AB2283B8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4317" y="2228556"/>
            <a:ext cx="3567552" cy="4229690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D818E928-5363-9538-FE27-64EB56D34F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7408" y="1270520"/>
            <a:ext cx="4114917" cy="4316959"/>
          </a:xfrm>
          <a:prstGeom prst="rect">
            <a:avLst/>
          </a:prstGeom>
        </p:spPr>
      </p:pic>
      <p:sp>
        <p:nvSpPr>
          <p:cNvPr id="3" name="Ellipse 2">
            <a:extLst>
              <a:ext uri="{FF2B5EF4-FFF2-40B4-BE49-F238E27FC236}">
                <a16:creationId xmlns:a16="http://schemas.microsoft.com/office/drawing/2014/main" id="{721BE69B-50DC-B842-B307-DFCD494F8026}"/>
              </a:ext>
            </a:extLst>
          </p:cNvPr>
          <p:cNvSpPr/>
          <p:nvPr/>
        </p:nvSpPr>
        <p:spPr>
          <a:xfrm>
            <a:off x="6659591" y="4321834"/>
            <a:ext cx="250167" cy="26741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D90F4558-0B42-AECF-9136-9E1C43A09BE1}"/>
              </a:ext>
            </a:extLst>
          </p:cNvPr>
          <p:cNvCxnSpPr>
            <a:endCxn id="3" idx="5"/>
          </p:cNvCxnSpPr>
          <p:nvPr/>
        </p:nvCxnSpPr>
        <p:spPr>
          <a:xfrm flipH="1" flipV="1">
            <a:off x="6873122" y="4550090"/>
            <a:ext cx="1365104" cy="135037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>
            <a:extLst>
              <a:ext uri="{FF2B5EF4-FFF2-40B4-BE49-F238E27FC236}">
                <a16:creationId xmlns:a16="http://schemas.microsoft.com/office/drawing/2014/main" id="{41B2E926-EBA3-843D-FD75-0DDBAC893DD1}"/>
              </a:ext>
            </a:extLst>
          </p:cNvPr>
          <p:cNvSpPr txBox="1"/>
          <p:nvPr/>
        </p:nvSpPr>
        <p:spPr>
          <a:xfrm>
            <a:off x="8238226" y="5624422"/>
            <a:ext cx="367698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/>
              <a:t>Je remarque en rédigeant ce petit bug d’affichage</a:t>
            </a:r>
          </a:p>
          <a:p>
            <a:r>
              <a:rPr lang="fr-FR" sz="1050" dirty="0"/>
              <a:t>Absent de la BDD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2C8EB411-72BF-800E-1B49-38CD60B3FB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2969" y="6068120"/>
            <a:ext cx="1771897" cy="533474"/>
          </a:xfrm>
          <a:prstGeom prst="rect">
            <a:avLst/>
          </a:prstGeom>
        </p:spPr>
      </p:pic>
      <p:sp>
        <p:nvSpPr>
          <p:cNvPr id="12" name="Espace réservé de la date 11">
            <a:extLst>
              <a:ext uri="{FF2B5EF4-FFF2-40B4-BE49-F238E27FC236}">
                <a16:creationId xmlns:a16="http://schemas.microsoft.com/office/drawing/2014/main" id="{664C6126-CA83-A4AE-8E2E-35E305746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14" name="Espace réservé du pied de page 13">
            <a:extLst>
              <a:ext uri="{FF2B5EF4-FFF2-40B4-BE49-F238E27FC236}">
                <a16:creationId xmlns:a16="http://schemas.microsoft.com/office/drawing/2014/main" id="{362AC009-C5B2-2527-D417-5263CDD51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15" name="Espace réservé du numéro de diapositive 14">
            <a:extLst>
              <a:ext uri="{FF2B5EF4-FFF2-40B4-BE49-F238E27FC236}">
                <a16:creationId xmlns:a16="http://schemas.microsoft.com/office/drawing/2014/main" id="{210A9003-8C8F-3240-2A23-FAE1A8DC5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9FCE7EE-2BBB-3D98-282D-0771C30366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792" y="2228556"/>
            <a:ext cx="3871986" cy="4229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7055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29EFF57-2C36-B29B-65AA-7EAA2740E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Un indicateur rapproché d'une requête SQL de contrôle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405B565-F1E8-5210-B791-2A614948CA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703" y="2032907"/>
            <a:ext cx="4918025" cy="2464381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D249F8F4-83BB-A1CA-2CB5-8015BDF31C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8815" y="3265097"/>
            <a:ext cx="6230219" cy="1038370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979908DF-35BF-5D23-EF3A-6ED2EE5BFF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8815" y="4494584"/>
            <a:ext cx="2476846" cy="2181529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F5D57612-1796-27C1-DFEB-01C3ABCBE2E6}"/>
              </a:ext>
            </a:extLst>
          </p:cNvPr>
          <p:cNvSpPr txBox="1"/>
          <p:nvPr/>
        </p:nvSpPr>
        <p:spPr>
          <a:xfrm>
            <a:off x="5568815" y="2274830"/>
            <a:ext cx="6094562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i="1" dirty="0">
                <a:ln w="3175" cmpd="sng">
                  <a:noFill/>
                </a:ln>
                <a:solidFill>
                  <a:srgbClr val="BBBEBF"/>
                </a:solidFill>
                <a:latin typeface="-apple-system"/>
                <a:ea typeface="+mj-ea"/>
                <a:cs typeface="+mj-cs"/>
              </a:rPr>
              <a:t>Issu du cahier de recettes :</a:t>
            </a:r>
          </a:p>
          <a:p>
            <a:r>
              <a:rPr lang="fr-FR" sz="1600" i="1" dirty="0">
                <a:ln w="3175" cmpd="sng">
                  <a:noFill/>
                </a:ln>
                <a:solidFill>
                  <a:srgbClr val="BBBEBF"/>
                </a:solidFill>
                <a:latin typeface="-apple-system"/>
                <a:ea typeface="+mj-ea"/>
                <a:cs typeface="+mj-cs"/>
              </a:rPr>
              <a:t>REC-09 :</a:t>
            </a:r>
          </a:p>
          <a:p>
            <a:r>
              <a:rPr lang="fr-FR" sz="1600" i="1" dirty="0">
                <a:ln w="3175" cmpd="sng">
                  <a:noFill/>
                </a:ln>
                <a:solidFill>
                  <a:srgbClr val="BBBEBF"/>
                </a:solidFill>
                <a:latin typeface="-apple-system"/>
                <a:ea typeface="+mj-ea"/>
                <a:cs typeface="+mj-cs"/>
              </a:rPr>
              <a:t>Cohérence de l'indicateur « activité par jour » avec la base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FCD40BE-464D-F2FE-9BE0-3EAB82043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5C45759-0058-DFBD-ED5C-9715ABD50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1CF7555-8EA7-39E8-4DBA-65537A547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5D77C742-E62D-E414-B9D1-C0AB16EB9A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703" y="4608999"/>
            <a:ext cx="4918025" cy="2048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3779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852358-CE80-125C-ECE5-9A01162EA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Exécution des tests et affichage de la couverture</a:t>
            </a:r>
            <a:br>
              <a:rPr lang="fr-FR" dirty="0"/>
            </a:b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B697C28-B6C3-1B50-FF78-E2361C77F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915063"/>
            <a:ext cx="5949500" cy="30048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fr-FR" sz="1200" i="1" dirty="0"/>
              <a:t>file:///C:/Users/Administrateur/Desktop/Cours/Evaluation%20Bloc%202/epreuve-e2-veloville/htmlcov/index.html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138B8A6A-7909-866F-ACC8-B80D210229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608" y="2242871"/>
            <a:ext cx="4023664" cy="3536830"/>
          </a:xfrm>
          <a:prstGeom prst="rect">
            <a:avLst/>
          </a:prstGeom>
        </p:spPr>
      </p:pic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AED42C6-B772-B4F4-F91F-FB7A577122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A9E087D-E04D-AEF9-2F3A-C3C912570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28006DA2-2276-E0DA-8858-BABAD67C7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BAF9815-F584-C78D-0B3D-EB3BF6176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4525" y="1915063"/>
            <a:ext cx="4538704" cy="472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0179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79A44D-F925-5DB2-A716-248DD62D1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3. Choix techniques et qualité</a:t>
            </a:r>
            <a:br>
              <a:rPr lang="fr-FR" b="0" i="0" dirty="0">
                <a:solidFill>
                  <a:srgbClr val="BBBEBF"/>
                </a:solidFill>
                <a:effectLst/>
                <a:latin typeface="-apple-system"/>
              </a:rPr>
            </a:b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D9BC3B4-5F46-D59D-7E8C-0A54D41507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4275976" cy="3124201"/>
          </a:xfrm>
        </p:spPr>
        <p:txBody>
          <a:bodyPr>
            <a:normAutofit fontScale="77500" lnSpcReduction="20000"/>
          </a:bodyPr>
          <a:lstStyle/>
          <a:p>
            <a:r>
              <a:rPr lang="fr-FR" b="0" i="0" dirty="0">
                <a:solidFill>
                  <a:srgbClr val="BBBEBF"/>
                </a:solidFill>
                <a:effectLst/>
                <a:latin typeface="-apple-system"/>
              </a:rPr>
              <a:t>Structure du code</a:t>
            </a:r>
          </a:p>
          <a:p>
            <a:pPr marL="457200" lvl="1" indent="0">
              <a:buNone/>
            </a:pPr>
            <a:r>
              <a:rPr lang="fr-FR" dirty="0"/>
              <a:t>Pour le code, 3 sous-dossiers principaux : </a:t>
            </a:r>
          </a:p>
          <a:p>
            <a:pPr lvl="1"/>
            <a:r>
              <a:rPr lang="fr-FR" dirty="0"/>
              <a:t>api </a:t>
            </a:r>
            <a:r>
              <a:rPr lang="fr-FR" dirty="0">
                <a:sym typeface="Wingdings" panose="05000000000000000000" pitchFamily="2" charset="2"/>
              </a:rPr>
              <a:t> backend</a:t>
            </a:r>
          </a:p>
          <a:p>
            <a:pPr lvl="1"/>
            <a:r>
              <a:rPr lang="fr-FR" dirty="0"/>
              <a:t>front </a:t>
            </a:r>
            <a:r>
              <a:rPr lang="fr-FR" dirty="0">
                <a:sym typeface="Wingdings" panose="05000000000000000000" pitchFamily="2" charset="2"/>
              </a:rPr>
              <a:t> frontend</a:t>
            </a:r>
          </a:p>
          <a:p>
            <a:pPr lvl="1"/>
            <a:r>
              <a:rPr lang="fr-FR" dirty="0">
                <a:sym typeface="Wingdings" panose="05000000000000000000" pitchFamily="2" charset="2"/>
              </a:rPr>
              <a:t>scripts  script d’importation des csv</a:t>
            </a:r>
            <a:endParaRPr lang="fr-FR" b="0" i="0" dirty="0">
              <a:solidFill>
                <a:srgbClr val="BBBEBF"/>
              </a:solidFill>
              <a:effectLst/>
              <a:latin typeface="-apple-system"/>
            </a:endParaRPr>
          </a:p>
          <a:p>
            <a:r>
              <a:rPr lang="fr-FR" b="0" i="0" dirty="0">
                <a:solidFill>
                  <a:srgbClr val="BBBEBF"/>
                </a:solidFill>
                <a:effectLst/>
                <a:latin typeface="-apple-system"/>
              </a:rPr>
              <a:t>Tests</a:t>
            </a:r>
          </a:p>
          <a:p>
            <a:pPr marL="0" indent="0">
              <a:buNone/>
            </a:pPr>
            <a:r>
              <a:rPr lang="fr-FR" b="0" i="0" dirty="0">
                <a:solidFill>
                  <a:srgbClr val="BBBEBF"/>
                </a:solidFill>
                <a:effectLst/>
                <a:latin typeface="-apple-system"/>
              </a:rPr>
              <a:t>	</a:t>
            </a:r>
            <a:r>
              <a:rPr lang="fr-FR" dirty="0"/>
              <a:t>Un dossier de tests à part, rapport </a:t>
            </a:r>
            <a:r>
              <a:rPr lang="fr-FR" dirty="0" err="1"/>
              <a:t>automtisé</a:t>
            </a:r>
            <a:r>
              <a:rPr lang="fr-FR" dirty="0"/>
              <a:t> en html</a:t>
            </a:r>
            <a:endParaRPr lang="fr-FR" b="0" i="0" dirty="0">
              <a:solidFill>
                <a:srgbClr val="BBBEBF"/>
              </a:solidFill>
              <a:effectLst/>
              <a:latin typeface="-apple-system"/>
            </a:endParaRPr>
          </a:p>
          <a:p>
            <a:r>
              <a:rPr lang="fr-FR" b="0" i="0" dirty="0">
                <a:solidFill>
                  <a:srgbClr val="BBBEBF"/>
                </a:solidFill>
                <a:effectLst/>
                <a:latin typeface="-apple-system"/>
              </a:rPr>
              <a:t>Sécurité </a:t>
            </a:r>
          </a:p>
          <a:p>
            <a:pPr marL="0" indent="0">
              <a:buNone/>
            </a:pPr>
            <a:r>
              <a:rPr lang="fr-FR" dirty="0">
                <a:solidFill>
                  <a:srgbClr val="BBBEBF"/>
                </a:solidFill>
                <a:effectLst/>
                <a:latin typeface="-apple-system"/>
              </a:rPr>
              <a:t>	2 profils différents avec des accès différents</a:t>
            </a:r>
            <a:endParaRPr lang="fr-FR" b="0" i="0" dirty="0">
              <a:solidFill>
                <a:srgbClr val="BBBEBF"/>
              </a:solidFill>
              <a:effectLst/>
              <a:latin typeface="-apple-system"/>
            </a:endParaRPr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DE81B500-AC26-A54A-575F-16C8DE98CE33}"/>
              </a:ext>
            </a:extLst>
          </p:cNvPr>
          <p:cNvSpPr txBox="1">
            <a:spLocks/>
          </p:cNvSpPr>
          <p:nvPr/>
        </p:nvSpPr>
        <p:spPr>
          <a:xfrm>
            <a:off x="5762296" y="2666998"/>
            <a:ext cx="4275976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none" baseline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none" baseline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none" baseline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none" baseline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none" baseline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>
                <a:solidFill>
                  <a:srgbClr val="BBBEBF"/>
                </a:solidFill>
                <a:effectLst/>
                <a:latin typeface="-apple-system"/>
              </a:rPr>
              <a:t>Écoconception</a:t>
            </a:r>
          </a:p>
          <a:p>
            <a:pPr marL="0" indent="0">
              <a:buNone/>
            </a:pPr>
            <a:r>
              <a:rPr lang="fr-FR" dirty="0">
                <a:solidFill>
                  <a:srgbClr val="BBBEBF"/>
                </a:solidFill>
                <a:effectLst/>
                <a:latin typeface="-apple-system"/>
              </a:rPr>
              <a:t>	frontend qui répond sur demande, pas en continu</a:t>
            </a:r>
          </a:p>
          <a:p>
            <a:pPr marL="0" indent="0">
              <a:buNone/>
            </a:pPr>
            <a:r>
              <a:rPr lang="fr-FR" dirty="0">
                <a:solidFill>
                  <a:srgbClr val="BBBEBF"/>
                </a:solidFill>
                <a:effectLst/>
                <a:latin typeface="-apple-system"/>
              </a:rPr>
              <a:t>	pagination à base de requêtes SQL pour ne pas charger la BDD entière</a:t>
            </a:r>
          </a:p>
          <a:p>
            <a:r>
              <a:rPr lang="fr-FR" dirty="0">
                <a:solidFill>
                  <a:srgbClr val="BBBEBF"/>
                </a:solidFill>
                <a:effectLst/>
                <a:latin typeface="-apple-system"/>
              </a:rPr>
              <a:t>Recette</a:t>
            </a:r>
          </a:p>
          <a:p>
            <a:pPr marL="0" indent="0">
              <a:buNone/>
            </a:pPr>
            <a:r>
              <a:rPr lang="fr-FR" dirty="0">
                <a:solidFill>
                  <a:srgbClr val="BBBEBF"/>
                </a:solidFill>
                <a:effectLst/>
                <a:latin typeface="-apple-system"/>
              </a:rPr>
              <a:t>	bilan des recettes sur la ver.1.0.0</a:t>
            </a:r>
          </a:p>
          <a:p>
            <a:pPr marL="0" indent="0">
              <a:buNone/>
            </a:pPr>
            <a:r>
              <a:rPr lang="fr-FR" dirty="0">
                <a:solidFill>
                  <a:srgbClr val="BBBEBF"/>
                </a:solidFill>
                <a:effectLst/>
                <a:latin typeface="-apple-system"/>
              </a:rPr>
              <a:t>	corrections en cours sur la ver 1.0.1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21B6D07-BE24-5C7D-FE34-71C6F5ABD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5037" y="1104680"/>
            <a:ext cx="2905530" cy="1562318"/>
          </a:xfrm>
          <a:prstGeom prst="rect">
            <a:avLst/>
          </a:prstGeom>
        </p:spPr>
      </p:pic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84B18EC2-E859-FEB7-D809-D4EA6B88C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FD7492D2-825D-9B5E-8ED6-0BBFD0F84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AD477FA6-578D-4B43-895C-8A4003365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F0D5568A-CF06-9F68-FA18-0CB2F7D792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1933" y="0"/>
            <a:ext cx="14300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8943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B84EE2-5F70-E8CC-72F5-13EA679CB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Limites et axes d'amélioration</a:t>
            </a:r>
            <a:br>
              <a:rPr lang="fr-FR" b="0" i="0" dirty="0">
                <a:solidFill>
                  <a:srgbClr val="BBBEBF"/>
                </a:solidFill>
                <a:effectLst/>
                <a:latin typeface="-apple-system"/>
              </a:rPr>
            </a:b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E1D0762-6E31-A4C3-D345-71FF9BCD3F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FR" dirty="0"/>
              <a:t>5 anomalies détectées en cours de recettage</a:t>
            </a:r>
          </a:p>
          <a:p>
            <a:pPr lvl="1"/>
            <a:r>
              <a:rPr lang="fr-FR" dirty="0"/>
              <a:t>2 ont été corrigées en v.1.0.1</a:t>
            </a:r>
          </a:p>
          <a:p>
            <a:pPr lvl="1"/>
            <a:r>
              <a:rPr lang="fr-FR" dirty="0"/>
              <a:t>3 sont en cours</a:t>
            </a:r>
          </a:p>
          <a:p>
            <a:endParaRPr lang="fr-FR" dirty="0"/>
          </a:p>
          <a:p>
            <a:r>
              <a:rPr lang="fr-FR" dirty="0"/>
              <a:t>Pour la v.2 :</a:t>
            </a:r>
          </a:p>
          <a:p>
            <a:pPr marL="457200" lvl="1" indent="0">
              <a:buNone/>
            </a:pPr>
            <a:r>
              <a:rPr lang="fr-FR" dirty="0"/>
              <a:t>Nouvelles fonctionnalités prévues :</a:t>
            </a:r>
          </a:p>
          <a:p>
            <a:pPr lvl="2"/>
            <a:r>
              <a:rPr lang="fr-FR" dirty="0"/>
              <a:t>Création d’un nouveau compte</a:t>
            </a:r>
          </a:p>
          <a:p>
            <a:pPr lvl="2"/>
            <a:r>
              <a:rPr lang="fr-FR" dirty="0"/>
              <a:t>Suivi météo</a:t>
            </a:r>
          </a:p>
          <a:p>
            <a:pPr lvl="1"/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C59EFC-B946-919A-465E-E996B8912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20/10/2026</a:t>
            </a:r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6441A3C-80AE-F539-BD84-4B85CC40F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VeloVille --- Cas Pratique --- Thomas Lerond</a:t>
            </a:r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754DEE5-7ECB-65EF-7049-A14C078AE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752678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illage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{A6FA36FD-0EB7-478A-8671-D7CBB3A0CC61}TF5e103eea-be93-4576-ae9c-3ecc0de701e746eaeef7-be8b934b9cd7</Template>
  <TotalTime>210</TotalTime>
  <Words>672</Words>
  <Application>Microsoft Office PowerPoint</Application>
  <PresentationFormat>Grand écran</PresentationFormat>
  <Paragraphs>146</Paragraphs>
  <Slides>14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22" baseType="lpstr">
      <vt:lpstr>-apple-system</vt:lpstr>
      <vt:lpstr>Aptos</vt:lpstr>
      <vt:lpstr>Arial</vt:lpstr>
      <vt:lpstr>Century Gothic</vt:lpstr>
      <vt:lpstr>Times New Roman</vt:lpstr>
      <vt:lpstr>Wingdings</vt:lpstr>
      <vt:lpstr>Wingdings 3</vt:lpstr>
      <vt:lpstr>Maillage</vt:lpstr>
      <vt:lpstr>Cas pratique : développement et suivi du cycle de vie d'une application - VéloVille -</vt:lpstr>
      <vt:lpstr>Sommaire</vt:lpstr>
      <vt:lpstr>1. Contexte et périmètre </vt:lpstr>
      <vt:lpstr>Besoins</vt:lpstr>
      <vt:lpstr>Architecture retenue</vt:lpstr>
      <vt:lpstr>Ce qui est livré / Ce qui ne l’est pas</vt:lpstr>
      <vt:lpstr>2. Démonstration</vt:lpstr>
      <vt:lpstr>Audit et import des données</vt:lpstr>
      <vt:lpstr>Différence de droits</vt:lpstr>
      <vt:lpstr>Le Frontend</vt:lpstr>
      <vt:lpstr>Un indicateur rapproché d'une requête SQL de contrôle</vt:lpstr>
      <vt:lpstr>Exécution des tests et affichage de la couverture </vt:lpstr>
      <vt:lpstr>3. Choix techniques et qualité </vt:lpstr>
      <vt:lpstr>4. Limites et axes d'amélioration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LEROND</dc:creator>
  <cp:lastModifiedBy>Thomas LEROND</cp:lastModifiedBy>
  <cp:revision>14</cp:revision>
  <dcterms:created xsi:type="dcterms:W3CDTF">2026-10-15T10:22:38Z</dcterms:created>
  <dcterms:modified xsi:type="dcterms:W3CDTF">2026-10-15T13:54:40Z</dcterms:modified>
</cp:coreProperties>
</file>