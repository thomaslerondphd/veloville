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3" r:id="rId5"/>
    <p:sldId id="264" r:id="rId6"/>
    <p:sldId id="265" r:id="rId7"/>
    <p:sldId id="260" r:id="rId8"/>
    <p:sldId id="266" r:id="rId9"/>
    <p:sldId id="267" r:id="rId10"/>
    <p:sldId id="268" r:id="rId11"/>
    <p:sldId id="269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 cap="none" baseline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cap="none" baseline="0"/>
            </a:lvl1pPr>
            <a:lvl2pPr>
              <a:defRPr cap="none" baseline="0"/>
            </a:lvl2pPr>
            <a:lvl3pPr>
              <a:defRPr cap="none" baseline="0"/>
            </a:lvl3pPr>
            <a:lvl4pPr>
              <a:defRPr cap="none" baseline="0"/>
            </a:lvl4pPr>
            <a:lvl5pPr>
              <a:defRPr cap="none" baseline="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none" baseline="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 cap="none" baseline="0"/>
            </a:lvl1pPr>
            <a:lvl2pPr>
              <a:defRPr sz="1600" cap="none" baseline="0"/>
            </a:lvl2pPr>
            <a:lvl3pPr>
              <a:defRPr sz="1400" cap="none" baseline="0"/>
            </a:lvl3pPr>
            <a:lvl4pPr>
              <a:defRPr sz="1200" cap="none" baseline="0"/>
            </a:lvl4pPr>
            <a:lvl5pPr>
              <a:defRPr sz="1200" cap="none" baseline="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 cap="none" baseline="0"/>
            </a:lvl1pPr>
            <a:lvl2pPr>
              <a:defRPr sz="1600" cap="none" baseline="0"/>
            </a:lvl2pPr>
            <a:lvl3pPr>
              <a:defRPr sz="1400" cap="none" baseline="0"/>
            </a:lvl3pPr>
            <a:lvl4pPr>
              <a:defRPr sz="1200" cap="none" baseline="0"/>
            </a:lvl4pPr>
            <a:lvl5pPr>
              <a:defRPr sz="1200" cap="none" baseline="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46F76-4E12-D4DB-930D-332CD12FB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2200" dirty="0"/>
              <a:t>Cas pratique : développement et suivi du cycle de vie d'une application</a:t>
            </a:r>
            <a:br>
              <a:rPr lang="fr-FR" b="1" i="0" dirty="0">
                <a:solidFill>
                  <a:srgbClr val="BBBEBF"/>
                </a:solidFill>
                <a:effectLst/>
                <a:latin typeface="-apple-system"/>
              </a:rPr>
            </a:br>
            <a:r>
              <a:rPr lang="fr-FR" b="1" i="0" dirty="0">
                <a:solidFill>
                  <a:srgbClr val="BBBEBF"/>
                </a:solidFill>
                <a:effectLst/>
                <a:latin typeface="-apple-system"/>
              </a:rPr>
              <a:t>- </a:t>
            </a:r>
            <a:r>
              <a:rPr lang="fr-FR" dirty="0" err="1"/>
              <a:t>VéloVille</a:t>
            </a:r>
            <a:r>
              <a:rPr lang="fr-FR" dirty="0"/>
              <a:t> -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6B7295-2FA7-CE56-B486-C73264BBE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M2I</a:t>
            </a:r>
          </a:p>
          <a:p>
            <a:r>
              <a:rPr lang="fr-FR" dirty="0"/>
              <a:t>- RNCP 39103 – </a:t>
            </a:r>
          </a:p>
          <a:p>
            <a:r>
              <a:rPr lang="fr-FR" dirty="0"/>
              <a:t>Épreuve 02</a:t>
            </a:r>
          </a:p>
          <a:p>
            <a:endParaRPr lang="fr-FR" dirty="0"/>
          </a:p>
          <a:p>
            <a:r>
              <a:rPr lang="fr-FR" dirty="0"/>
              <a:t>Thomas </a:t>
            </a:r>
            <a:r>
              <a:rPr lang="fr-FR" dirty="0" err="1"/>
              <a:t>Lerond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102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AE973-CB07-A38B-1366-BC21FB6A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1FAC4-A1AB-BF6D-25FA-E804C9193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fr-FR" i="0" dirty="0">
                <a:solidFill>
                  <a:srgbClr val="BBBEBF"/>
                </a:solidFill>
                <a:effectLst/>
                <a:latin typeface="-apple-system"/>
              </a:rPr>
              <a:t>Contexte et périmètre</a:t>
            </a:r>
          </a:p>
          <a:p>
            <a:pPr algn="l">
              <a:buFont typeface="+mj-lt"/>
              <a:buAutoNum type="arabicPeriod"/>
            </a:pPr>
            <a:r>
              <a:rPr lang="fr-FR" i="0" dirty="0">
                <a:solidFill>
                  <a:srgbClr val="BBBEBF"/>
                </a:solidFill>
                <a:effectLst/>
                <a:latin typeface="-apple-system"/>
              </a:rPr>
              <a:t>Démonstration</a:t>
            </a:r>
          </a:p>
          <a:p>
            <a:pPr algn="l">
              <a:buFont typeface="+mj-lt"/>
              <a:buAutoNum type="arabicPeriod"/>
            </a:pPr>
            <a:r>
              <a:rPr lang="fr-FR" i="0" dirty="0">
                <a:solidFill>
                  <a:srgbClr val="BBBEBF"/>
                </a:solidFill>
                <a:effectLst/>
                <a:latin typeface="-apple-system"/>
              </a:rPr>
              <a:t>Choix techniques et qualité</a:t>
            </a:r>
          </a:p>
          <a:p>
            <a:pPr algn="l">
              <a:buFont typeface="+mj-lt"/>
              <a:buAutoNum type="arabicPeriod"/>
            </a:pPr>
            <a:r>
              <a:rPr lang="fr-FR" i="0" dirty="0">
                <a:solidFill>
                  <a:srgbClr val="BBBEBF"/>
                </a:solidFill>
                <a:effectLst/>
                <a:latin typeface="-apple-system"/>
              </a:rPr>
              <a:t>Limites et axes d'amélioration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930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E1836F-5544-D68B-84C0-8E315471D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1. Contexte et périmètre</a:t>
            </a:r>
            <a:b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C60A9D-57F8-0920-138E-77D5D5A38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Besoins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Architecture retenue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Ce qui est livré et ce qui ne l'est pas.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373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64CF62-2537-67C8-3F79-203CC7C9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Besoins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EF0BD-3B1F-048D-EFCD-1EE574A59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173123" cy="312420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fr-FR" dirty="0"/>
              <a:t>Existant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Les exports ne sont pas fiabilisés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Aucun référentiel commun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Les indicateurs mensuels sont produits à la main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Les fichiers circulent par courriel, sans contrôle d'accès ni traçabilité.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0E2A9F6C-7869-273C-0DE4-4612F79F0F11}"/>
              </a:ext>
            </a:extLst>
          </p:cNvPr>
          <p:cNvSpPr>
            <a:spLocks noGrp="1"/>
          </p:cNvSpPr>
          <p:nvPr/>
        </p:nvSpPr>
        <p:spPr>
          <a:xfrm>
            <a:off x="4812253" y="609600"/>
            <a:ext cx="3220453" cy="2056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i="1" dirty="0" err="1"/>
              <a:t>VéloVille</a:t>
            </a:r>
            <a:r>
              <a:rPr lang="fr-FR" i="1" dirty="0"/>
              <a:t> </a:t>
            </a:r>
            <a:r>
              <a:rPr lang="fr-FR" i="1" dirty="0" err="1"/>
              <a:t>HdF</a:t>
            </a:r>
            <a:endParaRPr lang="fr-FR" i="1" dirty="0"/>
          </a:p>
          <a:p>
            <a:pPr lvl="1"/>
            <a:r>
              <a:rPr lang="fr-FR" i="1" dirty="0"/>
              <a:t>120 stations</a:t>
            </a:r>
          </a:p>
          <a:p>
            <a:pPr lvl="1"/>
            <a:r>
              <a:rPr lang="fr-FR" i="1" dirty="0"/>
              <a:t>1800 vélos</a:t>
            </a:r>
          </a:p>
          <a:p>
            <a:pPr lvl="1"/>
            <a:r>
              <a:rPr lang="fr-FR" i="1" dirty="0"/>
              <a:t>9000 trajets/jour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1DCE5AE-DF55-0485-B819-FAA80710A77A}"/>
              </a:ext>
            </a:extLst>
          </p:cNvPr>
          <p:cNvSpPr txBox="1">
            <a:spLocks/>
          </p:cNvSpPr>
          <p:nvPr/>
        </p:nvSpPr>
        <p:spPr>
          <a:xfrm>
            <a:off x="7213046" y="998724"/>
            <a:ext cx="3220453" cy="2056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F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6 Agents de rééquilibrage</a:t>
            </a:r>
          </a:p>
          <a:p>
            <a:pPr marL="742950" lvl="1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F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 Techniciens de maintenance</a:t>
            </a:r>
          </a:p>
          <a:p>
            <a:pPr marL="742950" lvl="1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F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 Coordinatrice</a:t>
            </a:r>
          </a:p>
          <a:p>
            <a:pPr marL="742950" lvl="1" indent="-285750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fr-FR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 développeurs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829F78ED-0B60-C89C-DAF7-CE7E0C6258DD}"/>
              </a:ext>
            </a:extLst>
          </p:cNvPr>
          <p:cNvSpPr txBox="1">
            <a:spLocks/>
          </p:cNvSpPr>
          <p:nvPr/>
        </p:nvSpPr>
        <p:spPr>
          <a:xfrm>
            <a:off x="7134045" y="3055288"/>
            <a:ext cx="4861704" cy="35133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 baseline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b="1" dirty="0"/>
              <a:t>Solution 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BBBEBF"/>
                </a:solidFill>
                <a:effectLst/>
                <a:latin typeface="-apple-system"/>
              </a:rPr>
              <a:t>Exports fiabilisés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BBBEBF"/>
                </a:solidFill>
                <a:effectLst/>
                <a:latin typeface="-apple-system"/>
              </a:rPr>
              <a:t>Référentiel commun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BBBEBF"/>
                </a:solidFill>
                <a:effectLst/>
                <a:latin typeface="-apple-system"/>
              </a:rPr>
              <a:t>Indicateurs automatisés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BBBEBF"/>
                </a:solidFill>
                <a:effectLst/>
                <a:latin typeface="-apple-system"/>
              </a:rPr>
              <a:t>Fichiers sécurisés</a:t>
            </a:r>
          </a:p>
          <a:p>
            <a:pPr marL="0" indent="0">
              <a:buFont typeface="Arial"/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3778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CC6D5-4231-A48F-7387-088F3F3F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retenue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E143A7-061C-F07D-BC18-91CBA9B99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000" b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Monolithe modulaire </a:t>
            </a:r>
          </a:p>
          <a:p>
            <a:pPr marL="457200" lvl="1" indent="0">
              <a:buNone/>
            </a:pPr>
            <a:r>
              <a:rPr lang="fr-FR" dirty="0">
                <a:effectLst/>
                <a:cs typeface="Times New Roman" panose="02020603050405020304" pitchFamily="18" charset="0"/>
              </a:rPr>
              <a:t>Pourquoi ?</a:t>
            </a:r>
          </a:p>
          <a:p>
            <a:pPr marL="457200" lvl="1" indent="0">
              <a:buNone/>
            </a:pPr>
            <a:r>
              <a:rPr lang="fr-FR" dirty="0">
                <a:effectLst/>
                <a:cs typeface="Times New Roman" panose="02020603050405020304" pitchFamily="18" charset="0"/>
                <a:sym typeface="Wingdings" panose="05000000000000000000" pitchFamily="2" charset="2"/>
              </a:rPr>
              <a:t> Petite équipe, projet court terme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F4CE11A-A04C-8A16-936D-5F614359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408" y="1226387"/>
            <a:ext cx="4578010" cy="38440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6A5CF45-E2D4-E230-CABE-2082762AE2CE}"/>
              </a:ext>
            </a:extLst>
          </p:cNvPr>
          <p:cNvSpPr txBox="1"/>
          <p:nvPr/>
        </p:nvSpPr>
        <p:spPr>
          <a:xfrm>
            <a:off x="6922408" y="5070402"/>
            <a:ext cx="45780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/>
              <a:t>Schéma applicatif issu de ma proposition de </a:t>
            </a:r>
            <a:r>
              <a:rPr lang="fr-FR" sz="1100" i="1" dirty="0" err="1"/>
              <a:t>CdC</a:t>
            </a:r>
            <a:endParaRPr lang="fr-FR" sz="1100" i="1" dirty="0"/>
          </a:p>
        </p:txBody>
      </p:sp>
    </p:spTree>
    <p:extLst>
      <p:ext uri="{BB962C8B-B14F-4D97-AF65-F5344CB8AC3E}">
        <p14:creationId xmlns:p14="http://schemas.microsoft.com/office/powerpoint/2010/main" val="250992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6BDCF-A647-98B0-5BF7-FFD87D23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qui est livré / Ce qui ne l’est pas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092E57-C839-6CCE-309C-DD6E837AE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949571"/>
            <a:ext cx="4876800" cy="38416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/>
              <a:t>Solution contenant </a:t>
            </a:r>
            <a:r>
              <a:rPr lang="fr-FR" dirty="0"/>
              <a:t>:</a:t>
            </a:r>
          </a:p>
          <a:p>
            <a:r>
              <a:rPr lang="fr-FR" dirty="0"/>
              <a:t>Script de fiabilisation et d’importation des données</a:t>
            </a:r>
          </a:p>
          <a:p>
            <a:r>
              <a:rPr lang="fr-FR" dirty="0"/>
              <a:t>Gestion de BDD par </a:t>
            </a:r>
            <a:r>
              <a:rPr lang="fr-FR" dirty="0" err="1"/>
              <a:t>Postgre</a:t>
            </a:r>
            <a:r>
              <a:rPr lang="fr-FR" dirty="0"/>
              <a:t> SQL</a:t>
            </a:r>
          </a:p>
          <a:p>
            <a:r>
              <a:rPr lang="fr-FR" dirty="0"/>
              <a:t>API backend contenant les fonctionnalités suivantes :</a:t>
            </a:r>
          </a:p>
          <a:p>
            <a:pPr lvl="1"/>
            <a:r>
              <a:rPr lang="fr-FR" dirty="0"/>
              <a:t>Authentification</a:t>
            </a:r>
          </a:p>
          <a:p>
            <a:pPr lvl="1"/>
            <a:r>
              <a:rPr lang="fr-FR" dirty="0"/>
              <a:t>Visualisation de la liste des stations</a:t>
            </a:r>
          </a:p>
          <a:p>
            <a:pPr lvl="1"/>
            <a:r>
              <a:rPr lang="fr-FR" dirty="0"/>
              <a:t>Recherche d’une station particulière</a:t>
            </a:r>
          </a:p>
          <a:p>
            <a:pPr lvl="1"/>
            <a:r>
              <a:rPr lang="fr-FR" dirty="0"/>
              <a:t>Visualisation des trajets</a:t>
            </a:r>
          </a:p>
          <a:p>
            <a:pPr lvl="1"/>
            <a:r>
              <a:rPr lang="fr-FR" dirty="0"/>
              <a:t>Visualisation des différents incidents</a:t>
            </a:r>
          </a:p>
          <a:p>
            <a:pPr lvl="1"/>
            <a:r>
              <a:rPr lang="fr-FR" dirty="0"/>
              <a:t>Mise à jour du statut d’un incident</a:t>
            </a:r>
          </a:p>
          <a:p>
            <a:pPr lvl="1"/>
            <a:r>
              <a:rPr lang="fr-FR" dirty="0"/>
              <a:t>Visualisation des indicateurs :</a:t>
            </a:r>
          </a:p>
          <a:p>
            <a:pPr lvl="2"/>
            <a:r>
              <a:rPr lang="fr-FR" dirty="0"/>
              <a:t>Activité par jour</a:t>
            </a:r>
          </a:p>
          <a:p>
            <a:pPr lvl="2"/>
            <a:r>
              <a:rPr lang="fr-FR" dirty="0"/>
              <a:t>Stations actives</a:t>
            </a:r>
          </a:p>
          <a:p>
            <a:pPr lvl="2"/>
            <a:r>
              <a:rPr lang="fr-FR" dirty="0"/>
              <a:t>Nombre d’incidents par statut</a:t>
            </a:r>
          </a:p>
          <a:p>
            <a:r>
              <a:rPr lang="fr-FR" dirty="0"/>
              <a:t>Frontend </a:t>
            </a:r>
            <a:r>
              <a:rPr lang="fr-FR" dirty="0" err="1"/>
              <a:t>Streamlit</a:t>
            </a:r>
            <a:r>
              <a:rPr lang="fr-FR" dirty="0"/>
              <a:t> permettant une navigation entre les fonctionnalités de l’API avec restitution tabulaire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32FFC4-3073-2E4F-ADFF-F12C12CE7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12" y="1949570"/>
            <a:ext cx="4876800" cy="38416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/>
              <a:t>Hors périmètre :</a:t>
            </a:r>
          </a:p>
          <a:p>
            <a:r>
              <a:rPr lang="fr-FR" dirty="0"/>
              <a:t>Création d’un nouveau compte</a:t>
            </a:r>
          </a:p>
          <a:p>
            <a:r>
              <a:rPr lang="fr-FR" dirty="0"/>
              <a:t>Suivi météo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5290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B9252-FA83-81EF-1ABE-B511ED3F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2. Démonstration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34D4A4-D84A-2359-73A0-36078E330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Audit et import des données (journal des rejets, idempotence)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Connexion avec les deux comptes et différence de droits (un 403 montré)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Les quatre écrans du front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Un indicateur rapproché d'une requête SQL de contrôle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Exécution des tests et affichage de la couverture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Exécution de la sauvegarde</a:t>
            </a:r>
            <a:b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5440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55D8C8-A908-1C80-3270-57A3883A9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Audit et import des données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900D55-65C2-8166-C678-8C8150EE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4334203" cy="3124201"/>
          </a:xfrm>
        </p:spPr>
        <p:txBody>
          <a:bodyPr>
            <a:normAutofit fontScale="85000" lnSpcReduction="10000"/>
          </a:bodyPr>
          <a:lstStyle/>
          <a:p>
            <a:r>
              <a:rPr lang="fr-FR" dirty="0"/>
              <a:t>Nettoyage des csv</a:t>
            </a:r>
          </a:p>
          <a:p>
            <a:pPr lvl="1"/>
            <a:r>
              <a:rPr lang="fr-FR" dirty="0"/>
              <a:t>Vérification des règles d’écriture des dates et heures</a:t>
            </a:r>
          </a:p>
          <a:p>
            <a:pPr lvl="1"/>
            <a:r>
              <a:rPr lang="fr-FR" dirty="0"/>
              <a:t>Normalisation des entrées écrites</a:t>
            </a:r>
          </a:p>
          <a:p>
            <a:pPr lvl="1"/>
            <a:r>
              <a:rPr lang="fr-FR" dirty="0"/>
              <a:t>Suppression des lignes physiquement impossible (restitution d’un vélo avant son emprunt)</a:t>
            </a:r>
          </a:p>
          <a:p>
            <a:r>
              <a:rPr lang="fr-FR" dirty="0"/>
              <a:t>Double sortie : csv et importation dans la BDD</a:t>
            </a:r>
          </a:p>
          <a:p>
            <a:r>
              <a:rPr lang="fr-FR" dirty="0"/>
              <a:t>Rédaction automatisée d’un journal de fiabilisation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823D0D-151E-5E47-7D6F-147B5B205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616" y="1885457"/>
            <a:ext cx="6468378" cy="23053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A11AEDC-020A-BD9D-40BB-752ED9BC3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145" y="4343134"/>
            <a:ext cx="4648849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7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23B78-0FA4-81F7-C0E6-D71AEF7C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Différence de droits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FA6DD6F8-A8C6-CC10-8776-5634639EFA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5365" y="1600919"/>
            <a:ext cx="3951818" cy="4629095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210AFCC-536A-59F0-08D7-A20F85D2B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17" y="2862071"/>
            <a:ext cx="5982535" cy="273405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90F86A5-A7B2-A5B7-3A21-DD1A1DD14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365" y="262129"/>
            <a:ext cx="3951818" cy="126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4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54818B-2E86-8288-E238-389FE5B6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Frontend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BA3AC3-16DC-9FFC-8730-4FA84EDC7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778" y="609600"/>
            <a:ext cx="3723091" cy="118438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9FCE7EE-2BBB-3D98-282D-0771C3036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92" y="2228556"/>
            <a:ext cx="3871986" cy="42296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A6DF51A-FCF4-B0E1-40A1-B6AB2283B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317" y="2228556"/>
            <a:ext cx="3567552" cy="422969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818E928-5363-9538-FE27-64EB56D34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408" y="1270520"/>
            <a:ext cx="4114917" cy="43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0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EFF57-2C36-B29B-65AA-7EAA2740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indicateur rapproché d'une requête SQL de contrôle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05B565-F1E8-5210-B791-2A614948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03" y="2032907"/>
            <a:ext cx="4918025" cy="24643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D77C742-E62D-E414-B9D1-C0AB16EB9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03" y="4608999"/>
            <a:ext cx="4918025" cy="204822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249F8F4-83BB-A1CA-2CB5-8015BDF3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815" y="3265097"/>
            <a:ext cx="6230219" cy="10383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79908DF-35BF-5D23-EF3A-6ED2EE5BF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815" y="4494584"/>
            <a:ext cx="2476846" cy="218152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5D57612-1796-27C1-DFEB-01C3ABCBE2E6}"/>
              </a:ext>
            </a:extLst>
          </p:cNvPr>
          <p:cNvSpPr txBox="1"/>
          <p:nvPr/>
        </p:nvSpPr>
        <p:spPr>
          <a:xfrm>
            <a:off x="5568815" y="2274830"/>
            <a:ext cx="60945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i="1" dirty="0">
                <a:ln w="3175" cmpd="sng">
                  <a:noFill/>
                </a:ln>
                <a:solidFill>
                  <a:srgbClr val="BBBEBF"/>
                </a:solidFill>
                <a:latin typeface="-apple-system"/>
                <a:ea typeface="+mj-ea"/>
                <a:cs typeface="+mj-cs"/>
              </a:rPr>
              <a:t>Issu du cahier de recettes :</a:t>
            </a:r>
          </a:p>
          <a:p>
            <a:r>
              <a:rPr lang="fr-FR" sz="1600" i="1" dirty="0">
                <a:ln w="3175" cmpd="sng">
                  <a:noFill/>
                </a:ln>
                <a:solidFill>
                  <a:srgbClr val="BBBEBF"/>
                </a:solidFill>
                <a:latin typeface="-apple-system"/>
                <a:ea typeface="+mj-ea"/>
                <a:cs typeface="+mj-cs"/>
              </a:rPr>
              <a:t>REC-09 :</a:t>
            </a:r>
          </a:p>
          <a:p>
            <a:r>
              <a:rPr lang="fr-FR" sz="1600" i="1" dirty="0">
                <a:ln w="3175" cmpd="sng">
                  <a:noFill/>
                </a:ln>
                <a:solidFill>
                  <a:srgbClr val="BBBEBF"/>
                </a:solidFill>
                <a:latin typeface="-apple-system"/>
                <a:ea typeface="+mj-ea"/>
                <a:cs typeface="+mj-cs"/>
              </a:rPr>
              <a:t>Cohérence de l'indicateur « activité par jour » avec la base</a:t>
            </a:r>
          </a:p>
        </p:txBody>
      </p:sp>
    </p:spTree>
    <p:extLst>
      <p:ext uri="{BB962C8B-B14F-4D97-AF65-F5344CB8AC3E}">
        <p14:creationId xmlns:p14="http://schemas.microsoft.com/office/powerpoint/2010/main" val="2814377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852358-CE80-125C-ECE5-9A01162E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Exécution des tests et affichage de la couverture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697C28-B6C3-1B50-FF78-E2361C77F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15063"/>
            <a:ext cx="5949500" cy="3004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1200" i="1" dirty="0"/>
              <a:t>file:///C:/Users/Administrateur/Desktop/Cours/Evaluation%20Bloc%202/epreuve-e2-veloville/htmlcov/index.html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BAF9815-F584-C78D-0B3D-EB3BF617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525" y="1915063"/>
            <a:ext cx="4538704" cy="47272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38B8A6A-7909-866F-ACC8-B80D21022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608" y="2639683"/>
            <a:ext cx="4023664" cy="35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1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79A44D-F925-5DB2-A716-248DD62D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3. Choix techniques et qualité</a:t>
            </a:r>
            <a:b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9BC3B4-5F46-D59D-7E8C-0A54D415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Structure du code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Tests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Sécurité 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Écoconception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Historique Git 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Recette</a:t>
            </a:r>
          </a:p>
          <a:p>
            <a: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  <a:t>Corrections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189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B84EE2-5F70-E8CC-72F5-13EA679C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Limites et axes d'amélioration</a:t>
            </a:r>
            <a:br>
              <a:rPr lang="fr-FR" b="0" i="0" dirty="0">
                <a:solidFill>
                  <a:srgbClr val="BBBEBF"/>
                </a:solidFill>
                <a:effectLst/>
                <a:latin typeface="-apple-system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1D0762-6E31-A4C3-D345-71FF9BCD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5267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llage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{A6FA36FD-0EB7-478A-8671-D7CBB3A0CC61}TF5e103eea-be93-4576-ae9c-3ecc0de701e746eaeef7-be8b934b9cd7</Template>
  <TotalTime>155</TotalTime>
  <Words>430</Words>
  <Application>Microsoft Office PowerPoint</Application>
  <PresentationFormat>Grand écran</PresentationFormat>
  <Paragraphs>89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-apple-system</vt:lpstr>
      <vt:lpstr>Aptos</vt:lpstr>
      <vt:lpstr>Arial</vt:lpstr>
      <vt:lpstr>Century Gothic</vt:lpstr>
      <vt:lpstr>Times New Roman</vt:lpstr>
      <vt:lpstr>Wingdings 3</vt:lpstr>
      <vt:lpstr>Maillage</vt:lpstr>
      <vt:lpstr>Cas pratique : développement et suivi du cycle de vie d'une application - VéloVille -</vt:lpstr>
      <vt:lpstr>Sommaire</vt:lpstr>
      <vt:lpstr>1. Contexte et périmètre </vt:lpstr>
      <vt:lpstr>Besoins</vt:lpstr>
      <vt:lpstr>Architecture retenue</vt:lpstr>
      <vt:lpstr>Ce qui est livré / Ce qui ne l’est pas</vt:lpstr>
      <vt:lpstr>2. Démonstration</vt:lpstr>
      <vt:lpstr>Audit et import des données</vt:lpstr>
      <vt:lpstr>Différence de droits</vt:lpstr>
      <vt:lpstr>Le Frontend</vt:lpstr>
      <vt:lpstr>Un indicateur rapproché d'une requête SQL de contrôle</vt:lpstr>
      <vt:lpstr>Exécution des tests et affichage de la couverture </vt:lpstr>
      <vt:lpstr>3. Choix techniques et qualité </vt:lpstr>
      <vt:lpstr>4. Limites et axes d'amélioration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LEROND</dc:creator>
  <cp:lastModifiedBy>Thomas LEROND</cp:lastModifiedBy>
  <cp:revision>8</cp:revision>
  <dcterms:created xsi:type="dcterms:W3CDTF">2026-10-15T10:22:38Z</dcterms:created>
  <dcterms:modified xsi:type="dcterms:W3CDTF">2026-10-15T12:58:29Z</dcterms:modified>
</cp:coreProperties>
</file>